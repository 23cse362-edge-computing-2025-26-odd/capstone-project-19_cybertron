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ans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Canva Sans Italics" charset="1" panose="020B0503030501040103"/>
      <p:regular r:id="rId21"/>
    </p:embeddedFont>
    <p:embeddedFont>
      <p:font typeface="Poppins" charset="1" panose="00000500000000000000"/>
      <p:regular r:id="rId22"/>
    </p:embeddedFont>
    <p:embeddedFont>
      <p:font typeface="DM Sans Bold" charset="1" panose="00000000000000000000"/>
      <p:regular r:id="rId23"/>
    </p:embeddedFont>
    <p:embeddedFont>
      <p:font typeface="Roboto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4372" y="-285750"/>
            <a:ext cx="14319257" cy="255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LOPECS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61496" y="2202978"/>
            <a:ext cx="9965009" cy="116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34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Low‑Power Edge Computing System for Real‑Time Autonomous Driving Services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9489" y="5086350"/>
            <a:ext cx="16230600" cy="325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6"/>
              </a:lnSpc>
            </a:pPr>
            <a:r>
              <a:rPr lang="en-US" sz="311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Autonomous vehicles must run services like object detection, SLAM, and voice recognition in real time, but low-power platforms (e.g., Jetson TX1) struggle with limited compute and energy. While cloud offloading can help, it adds latency and network risks in safety-critical tasks. Hence, there is a need for a lightweight adaptive edge computing system that dynamically balances onboard and edge execution to ensure both real-time performance and energy efficiency.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92224" y="-373200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37502" y="-260528"/>
            <a:ext cx="4932403" cy="10808055"/>
          </a:xfrm>
          <a:custGeom>
            <a:avLst/>
            <a:gdLst/>
            <a:ahLst/>
            <a:cxnLst/>
            <a:rect r="r" b="b" t="t" l="l"/>
            <a:pathLst>
              <a:path h="10808055" w="4932403">
                <a:moveTo>
                  <a:pt x="0" y="0"/>
                </a:moveTo>
                <a:lnTo>
                  <a:pt x="4932404" y="0"/>
                </a:lnTo>
                <a:lnTo>
                  <a:pt x="4932404" y="10808056"/>
                </a:lnTo>
                <a:lnTo>
                  <a:pt x="0" y="1080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0350" y="438329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29468" y="1605305"/>
            <a:ext cx="12419753" cy="8942222"/>
          </a:xfrm>
          <a:custGeom>
            <a:avLst/>
            <a:gdLst/>
            <a:ahLst/>
            <a:cxnLst/>
            <a:rect r="r" b="b" t="t" l="l"/>
            <a:pathLst>
              <a:path h="8942222" w="12419753">
                <a:moveTo>
                  <a:pt x="0" y="0"/>
                </a:moveTo>
                <a:lnTo>
                  <a:pt x="12419753" y="0"/>
                </a:lnTo>
                <a:lnTo>
                  <a:pt x="12419753" y="8942223"/>
                </a:lnTo>
                <a:lnTo>
                  <a:pt x="0" y="8942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5512" y="373268"/>
            <a:ext cx="12773710" cy="109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514"/>
              </a:lnSpc>
            </a:pPr>
            <a:r>
              <a:rPr lang="en-US" sz="753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 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83217" y="-1780913"/>
            <a:ext cx="4952166" cy="4114800"/>
          </a:xfrm>
          <a:custGeom>
            <a:avLst/>
            <a:gdLst/>
            <a:ahLst/>
            <a:cxnLst/>
            <a:rect r="r" b="b" t="t" l="l"/>
            <a:pathLst>
              <a:path h="4114800" w="4952166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7356" y="129951"/>
            <a:ext cx="5559513" cy="179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4"/>
              </a:lnSpc>
            </a:pPr>
            <a:r>
              <a:rPr lang="en-US" sz="627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CHANGES AND UPDATES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4875" y="2430676"/>
            <a:ext cx="11288396" cy="30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4032" y="2267212"/>
            <a:ext cx="16028561" cy="169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9"/>
              </a:lnSpc>
            </a:pPr>
            <a:r>
              <a:rPr lang="en-US" sz="322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1) Added a Seperate QoE stage within the pipeline,with additional functionalities including sensor fusion and  local and offload execution times/energy.</a:t>
            </a:r>
          </a:p>
          <a:p>
            <a:pPr algn="l">
              <a:lnSpc>
                <a:spcPts val="450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4032" y="3739778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2) Created real-time simulation with dynamic arrivals using SimPy-based event simulation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032" y="5148235"/>
            <a:ext cx="182880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3) Fused SLAM with Camera detections into a single sensory info and EDF logics are implemented in the tier 1 stage.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032" y="6556693"/>
            <a:ext cx="162306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4) Supported the tier 2 (remote nodes) stage with new Fallback Mechanisms and Budget Constraints in a batch wise fashion.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032" y="8077835"/>
            <a:ext cx="1816396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5) The data flow is made advanced by adding new parameters and functions such as tag enrichment and functions adapted to the sensory infoemation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04623" y="-747371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9412" y="512933"/>
            <a:ext cx="664090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QOE CODE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8237" y="2895048"/>
            <a:ext cx="9274568" cy="636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036" indent="-246018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QoE Metadata Enrichment – Adds critical fields like QoE class, deadlines, and energy estimates to each task.</a:t>
            </a:r>
          </a:p>
          <a:p>
            <a:pPr algn="l">
              <a:lnSpc>
                <a:spcPts val="3190"/>
              </a:lnSpc>
            </a:pPr>
          </a:p>
          <a:p>
            <a:pPr algn="l" marL="492036" indent="-246018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Safety &amp; Time Priority – Automatically routes safety-critical or time-sensitive tasks to Tier-1 for immediate local execution.</a:t>
            </a:r>
          </a:p>
          <a:p>
            <a:pPr algn="l">
              <a:lnSpc>
                <a:spcPts val="3190"/>
              </a:lnSpc>
            </a:pPr>
          </a:p>
          <a:p>
            <a:pPr algn="l" marL="492036" indent="-246018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Energy–Latency Optimization – Chooses offloading only when it’s faster and more energy-efficient than local processing.</a:t>
            </a:r>
          </a:p>
          <a:p>
            <a:pPr algn="l">
              <a:lnSpc>
                <a:spcPts val="3190"/>
              </a:lnSpc>
            </a:pPr>
          </a:p>
          <a:p>
            <a:pPr algn="l" marL="492036" indent="-246018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Bandwidth-Aware Tier Selection – Splits offloaded tasks between Tier-2 (remote edge) and Tier-3 (cloud) based on data size/bandwidth limits.</a:t>
            </a:r>
          </a:p>
          <a:p>
            <a:pPr algn="l">
              <a:lnSpc>
                <a:spcPts val="3190"/>
              </a:lnSpc>
            </a:pPr>
          </a:p>
          <a:p>
            <a:pPr algn="l" marL="492036" indent="-246018" lvl="1">
              <a:lnSpc>
                <a:spcPts val="3190"/>
              </a:lnSpc>
              <a:buFont typeface="Arial"/>
              <a:buChar char="•"/>
            </a:pPr>
            <a:r>
              <a:rPr lang="en-US" sz="22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Fallback to Local – Defaults to Tier-1 when neither time nor energy conditions are favorable for offloading.</a:t>
            </a:r>
          </a:p>
          <a:p>
            <a:pPr algn="l">
              <a:lnSpc>
                <a:spcPts val="319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974753" y="1677639"/>
            <a:ext cx="7139702" cy="879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function enrich_task(event, type):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deadline ← DEADLINE_TABLE[type]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QoE_class ← "Insensitive"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score ← 0</a:t>
            </a:r>
          </a:p>
          <a:p>
            <a:pPr algn="l">
              <a:lnSpc>
                <a:spcPts val="2792"/>
              </a:lnSpc>
            </a:pP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if type == "SLAM":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weight1 if obstacle detected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weight2 if near objects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-= penalty if VO failure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f(confidence_level)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bonus if fast arrival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bonus if voice confirms obstacle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deadline ← max(5, base_deadline - score)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QoE_class ← classify(score)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if type == "Voice":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weight if "obstacle"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score += weight if control command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else score += small_weight</a:t>
            </a:r>
          </a:p>
          <a:p>
            <a:pPr algn="l">
              <a:lnSpc>
                <a:spcPts val="2792"/>
              </a:lnSpc>
            </a:pP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map score → (deadline, QoE_class)</a:t>
            </a:r>
          </a:p>
          <a:p>
            <a:pPr algn="l">
              <a:lnSpc>
                <a:spcPts val="2792"/>
              </a:lnSpc>
            </a:pP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compute (local_time, local_energy)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compute (offload_time, offload_energy)</a:t>
            </a:r>
          </a:p>
          <a:p>
            <a:pPr algn="l">
              <a:lnSpc>
                <a:spcPts val="2792"/>
              </a:lnSpc>
            </a:pPr>
            <a:r>
              <a:rPr lang="en-US" sz="1994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return enriched_task(deadline, QoE_class, times, energy)</a:t>
            </a:r>
          </a:p>
          <a:p>
            <a:pPr algn="l">
              <a:lnSpc>
                <a:spcPts val="2792"/>
              </a:lnSpc>
            </a:pPr>
          </a:p>
        </p:txBody>
      </p:sp>
      <p:sp>
        <p:nvSpPr>
          <p:cNvPr name="AutoShape 6" id="6"/>
          <p:cNvSpPr/>
          <p:nvPr/>
        </p:nvSpPr>
        <p:spPr>
          <a:xfrm flipH="true">
            <a:off x="10232805" y="2052898"/>
            <a:ext cx="0" cy="823410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883" y="420201"/>
            <a:ext cx="2948680" cy="2959442"/>
          </a:xfrm>
          <a:custGeom>
            <a:avLst/>
            <a:gdLst/>
            <a:ahLst/>
            <a:cxnLst/>
            <a:rect r="r" b="b" t="t" l="l"/>
            <a:pathLst>
              <a:path h="2959442" w="2948680">
                <a:moveTo>
                  <a:pt x="0" y="0"/>
                </a:moveTo>
                <a:lnTo>
                  <a:pt x="2948680" y="0"/>
                </a:lnTo>
                <a:lnTo>
                  <a:pt x="2948680" y="2959442"/>
                </a:lnTo>
                <a:lnTo>
                  <a:pt x="0" y="2959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49379" y="9093493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5" y="0"/>
                </a:lnTo>
                <a:lnTo>
                  <a:pt x="2378335" y="2387014"/>
                </a:lnTo>
                <a:lnTo>
                  <a:pt x="0" y="23870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50856" y="346809"/>
            <a:ext cx="214407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TIER1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8912" y="7302890"/>
            <a:ext cx="55792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 little bit of body text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1121" y="1893765"/>
            <a:ext cx="6500777" cy="736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a lit</a:t>
            </a: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ier 1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# Hardware: CPU, GPU, DSP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# Scheduler: HEFT / Dif-Min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# Local task queue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Global task_queue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Function add_to_tier1(task, use_heft=True):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# Add task to local queue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task_queue.append(task)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# Optionally run HEFT or Dif-Min scheduler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if use_heft: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allocations = run_heft_scheduler(task_queue)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else: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allocations = run_difmin_scheduler(task_queue)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return allocations</a:t>
            </a:r>
          </a:p>
          <a:p>
            <a:pPr algn="l" marL="0" indent="0" lvl="0">
              <a:lnSpc>
                <a:spcPts val="3112"/>
              </a:lnSpc>
              <a:spcBef>
                <a:spcPct val="0"/>
              </a:spcBef>
            </a:pP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23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 bit of body 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112" y="2242999"/>
            <a:ext cx="8394783" cy="658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2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Local Execution Hub – Tier-1 handles immediate or safety-critical tasks closest to the device, reducing latency.</a:t>
            </a:r>
          </a:p>
          <a:p>
            <a:pPr algn="l">
              <a:lnSpc>
                <a:spcPts val="3168"/>
              </a:lnSpc>
            </a:pPr>
          </a:p>
          <a:p>
            <a:pPr algn="l">
              <a:lnSpc>
                <a:spcPts val="3168"/>
              </a:lnSpc>
            </a:pPr>
            <a:r>
              <a:rPr lang="en-US" sz="22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Flexible Hardware Utilization – Supports CPU, GPU, and DSP so tasks can be matched to the most suitable local resource.</a:t>
            </a:r>
          </a:p>
          <a:p>
            <a:pPr algn="l">
              <a:lnSpc>
                <a:spcPts val="3168"/>
              </a:lnSpc>
            </a:pPr>
          </a:p>
          <a:p>
            <a:pPr algn="l">
              <a:lnSpc>
                <a:spcPts val="3168"/>
              </a:lnSpc>
            </a:pPr>
            <a:r>
              <a:rPr lang="en-US" sz="22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Dynamic Scheduling Algorithms – Offers a choice between HEFT (Heterogeneous Earliest Finish Time) or Dif-Min scheduling for better performance depending on workload.</a:t>
            </a:r>
          </a:p>
          <a:p>
            <a:pPr algn="l">
              <a:lnSpc>
                <a:spcPts val="3168"/>
              </a:lnSpc>
            </a:pPr>
          </a:p>
          <a:p>
            <a:pPr algn="l">
              <a:lnSpc>
                <a:spcPts val="3168"/>
              </a:lnSpc>
            </a:pPr>
            <a:r>
              <a:rPr lang="en-US" sz="22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Central Task Queue – Maintains a global task_queue to store and manage incoming tasks before scheduling.</a:t>
            </a:r>
          </a:p>
          <a:p>
            <a:pPr algn="l">
              <a:lnSpc>
                <a:spcPts val="3168"/>
              </a:lnSpc>
            </a:pPr>
          </a:p>
          <a:p>
            <a:pPr algn="l">
              <a:lnSpc>
                <a:spcPts val="3168"/>
              </a:lnSpc>
            </a:pPr>
            <a:r>
              <a:rPr lang="en-US" sz="22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Resource Allocation – Immediately computes allocations for each task, enabling low-delay execution or quick decision-making for offloading to higher tiers</a:t>
            </a:r>
          </a:p>
          <a:p>
            <a:pPr algn="ctr">
              <a:lnSpc>
                <a:spcPts val="1584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9144000" y="1899922"/>
            <a:ext cx="0" cy="692387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796" y="-3767991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64740" y="-1398123"/>
            <a:ext cx="4099837" cy="4114800"/>
          </a:xfrm>
          <a:custGeom>
            <a:avLst/>
            <a:gdLst/>
            <a:ahLst/>
            <a:cxnLst/>
            <a:rect r="r" b="b" t="t" l="l"/>
            <a:pathLst>
              <a:path h="4114800" w="4099837">
                <a:moveTo>
                  <a:pt x="0" y="0"/>
                </a:moveTo>
                <a:lnTo>
                  <a:pt x="4099837" y="0"/>
                </a:lnTo>
                <a:lnTo>
                  <a:pt x="4099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6200" y="9083515"/>
            <a:ext cx="2378335" cy="2387015"/>
          </a:xfrm>
          <a:custGeom>
            <a:avLst/>
            <a:gdLst/>
            <a:ahLst/>
            <a:cxnLst/>
            <a:rect r="r" b="b" t="t" l="l"/>
            <a:pathLst>
              <a:path h="2387015" w="2378335">
                <a:moveTo>
                  <a:pt x="0" y="0"/>
                </a:moveTo>
                <a:lnTo>
                  <a:pt x="2378334" y="0"/>
                </a:lnTo>
                <a:lnTo>
                  <a:pt x="2378334" y="2387015"/>
                </a:lnTo>
                <a:lnTo>
                  <a:pt x="0" y="2387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3883" y="555244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14722" y="458866"/>
            <a:ext cx="7234184" cy="96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1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 Preprocessing / Compression done at Tier-1 before sending</a:t>
            </a:r>
          </a:p>
          <a:p>
            <a:pPr algn="l">
              <a:lnSpc>
                <a:spcPts val="2302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Global tier2_queue</a:t>
            </a:r>
          </a:p>
          <a:p>
            <a:pPr algn="l">
              <a:lnSpc>
                <a:spcPts val="2302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 add_to_tier2(task):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# Preprocessing already done at Tier-1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tier2_queue.append(task)</a:t>
            </a:r>
          </a:p>
          <a:p>
            <a:pPr algn="l">
              <a:lnSpc>
                <a:spcPts val="2302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 schedule_tier2(tasks_all, max_time):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executed = []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fallback = []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used_time = 0</a:t>
            </a:r>
          </a:p>
          <a:p>
            <a:pPr algn="l">
              <a:lnSpc>
                <a:spcPts val="2302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For each task in tasks_all: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total_time = task["offload_time"] + decompression_overhead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if used_time + total_time &lt;= max_time: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# Decompress task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task = tier2_decompress(task)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executed.append(task)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used_time += total_time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else: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# Fallback to Tier-1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fallback.append(task)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tier1.add_to_tier1(task)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return executed, fallback</a:t>
            </a:r>
          </a:p>
          <a:p>
            <a:pPr algn="l">
              <a:lnSpc>
                <a:spcPts val="2302"/>
              </a:lnSpc>
            </a:pP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Function tier2_decompress(task):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# Restore features / data</a:t>
            </a:r>
          </a:p>
          <a:p>
            <a:pPr algn="l">
              <a:lnSpc>
                <a:spcPts val="2302"/>
              </a:lnSpc>
            </a:pPr>
            <a:r>
              <a:rPr lang="en-US" sz="164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return task</a:t>
            </a:r>
          </a:p>
          <a:p>
            <a:pPr algn="l">
              <a:lnSpc>
                <a:spcPts val="20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76411" y="212410"/>
            <a:ext cx="2335178" cy="93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2"/>
              </a:lnSpc>
              <a:spcBef>
                <a:spcPct val="0"/>
              </a:spcBef>
            </a:pPr>
            <a:r>
              <a:rPr lang="en-US" b="true" sz="641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TIER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8872" y="2074541"/>
            <a:ext cx="7434656" cy="739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0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Handles Preprocessed Data – Tier-2 assumes all tasks arriving from Tier-1 are already compressed or preprocessed, reducing transmission size and latency</a:t>
            </a:r>
          </a:p>
          <a:p>
            <a:pPr algn="l">
              <a:lnSpc>
                <a:spcPts val="2840"/>
              </a:lnSpc>
            </a:pPr>
          </a:p>
          <a:p>
            <a:pPr algn="l">
              <a:lnSpc>
                <a:spcPts val="2840"/>
              </a:lnSpc>
            </a:pPr>
            <a:r>
              <a:rPr lang="en-US" sz="20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Dedicated Tier-2 Queue – Maintains a separate tier2_queue to store incoming tasks before scheduling and decompression.</a:t>
            </a:r>
          </a:p>
          <a:p>
            <a:pPr algn="l">
              <a:lnSpc>
                <a:spcPts val="2840"/>
              </a:lnSpc>
            </a:pPr>
          </a:p>
          <a:p>
            <a:pPr algn="l">
              <a:lnSpc>
                <a:spcPts val="2840"/>
              </a:lnSpc>
            </a:pPr>
            <a:r>
              <a:rPr lang="en-US" sz="20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Time-Budget Scheduling – schedule_tier2 checks each task’s offload time + decompression overhead against a max_time budget to decide whether it can be processed at Tier-2.</a:t>
            </a:r>
          </a:p>
          <a:p>
            <a:pPr algn="l">
              <a:lnSpc>
                <a:spcPts val="2840"/>
              </a:lnSpc>
            </a:pPr>
          </a:p>
          <a:p>
            <a:pPr algn="l">
              <a:lnSpc>
                <a:spcPts val="2840"/>
              </a:lnSpc>
            </a:pPr>
            <a:r>
              <a:rPr lang="en-US" sz="20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Decompression/Feature Restoration – Uses tier2_decompress to restore data or features before execution on Tier-2 resources.</a:t>
            </a:r>
          </a:p>
          <a:p>
            <a:pPr algn="l">
              <a:lnSpc>
                <a:spcPts val="2840"/>
              </a:lnSpc>
            </a:pPr>
          </a:p>
          <a:p>
            <a:pPr algn="l">
              <a:lnSpc>
                <a:spcPts val="2840"/>
              </a:lnSpc>
            </a:pPr>
            <a:r>
              <a:rPr lang="en-US" sz="20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Fallback Mechanism to Tier-1 – If Tier-2 cannot execute a task within the allotted time, the task is automatically returned to Tier-1 for local execution, ensuring no task is dropped.</a:t>
            </a:r>
          </a:p>
          <a:p>
            <a:pPr algn="ctr">
              <a:lnSpc>
                <a:spcPts val="2840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9144000" y="1899922"/>
            <a:ext cx="0" cy="718359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057650" y="-119650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37247" y="-3693869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48074" y="420931"/>
            <a:ext cx="266890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TIER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7079" y="2372899"/>
            <a:ext cx="7825026" cy="668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Aggregation: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Collects logs and cleaned data from vehicles via Tier-2.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Fleet Monitoring: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Keeps track of vehicle status (battery, speed, location).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Fleet Health Report: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Generates summaries, e.g., low battery vehicles and average speed.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Hazard Management: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Receives hazard reports (e.g., accidents, slippery roads) from Tier-2.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Hazard Distribution: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Shares hazard info back to Tier-2 to alert vehicles.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26534" y="2094230"/>
            <a:ext cx="8812898" cy="745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CLASS Tier3Cloud: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INIT: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data_lake ← []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fleet_status ← {}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hazard_events ← []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collect_data(vehicle_id, log):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Add {vehicle_id, log} to data_lake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update_fleet_status(vehicle_id, status):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fleet_status[vehicle_id] ← status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generate_fleet_report():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RETURN total vehicles, low battery list, avg speed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report_hazard(vehicle_id, hazard_type, location):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Add {vehicle_id, hazard_type, location} to hazard_events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distribute_hazards(region):</a:t>
            </a:r>
          </a:p>
          <a:p>
            <a:pPr algn="l">
              <a:lnSpc>
                <a:spcPts val="2802"/>
              </a:lnSpc>
            </a:pPr>
            <a:r>
              <a:rPr lang="en-US" sz="2001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RETURN hazards matching region or all</a:t>
            </a:r>
          </a:p>
          <a:p>
            <a:pPr algn="l">
              <a:lnSpc>
                <a:spcPts val="2802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9144000" y="2410999"/>
            <a:ext cx="0" cy="66446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3841" y="1075055"/>
            <a:ext cx="7171197" cy="1048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task_source(env, slam_file, voice_file, task_queue):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For each event in slam_file + voice_file: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task ← Enrich event with QoE info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Decide task tier (Tier-1 or Tier-2)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Add task to task_queue (EDF order)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Wait for inter-arrival gap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scheduler(env, task_queue, results, resources, metrics):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tier2_used_time ← 0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tier1_batch ← []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Loop: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IF task_queue not empty: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Pop earliest-deadline task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IF task assigned to Tier-1: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Add to batch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IF batch full or timeout: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Schedule batch on CPU/GPU/DSP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ELSE IF task assigned to Tier-2: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IF within budget: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Simulate remote execution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ELSE:</a:t>
            </a: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Fallback to Tier-1 batch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208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79427" y="1075055"/>
            <a:ext cx="8332090" cy="919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Task Generation: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Tasks are created from SLAM and Voice Recognition data, enhanced with quality and deadline info.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Tier Assignment: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Each task is classified to run either locally (Tier-1) or remotely (Tier-2) based on deadline and energy efficiency.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Priority Queue: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Tasks are ordered by earliest deadline to ensure timely execution.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Task Scheduling: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Tier-1 tasks are grouped into batches and executed on local hardware (CPU, GPU, DSP).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Tier-2 tasks are executed remotely if time budget allows; otherwise, they fallback to Tier-1.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Simulation Execution: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SimPy environment runs the simulation until the predefined time limit.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Results &amp; Metrics: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Final outputs show task completion times, deadline success rate, and energy consumed per tier.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642039" y="141605"/>
            <a:ext cx="20243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SimPy</a:t>
            </a:r>
          </a:p>
        </p:txBody>
      </p:sp>
      <p:sp>
        <p:nvSpPr>
          <p:cNvPr name="AutoShape 5" id="5"/>
          <p:cNvSpPr/>
          <p:nvPr/>
        </p:nvSpPr>
        <p:spPr>
          <a:xfrm flipH="true" flipV="true">
            <a:off x="9923646" y="1513974"/>
            <a:ext cx="0" cy="846254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52069" y="6234781"/>
            <a:ext cx="6762921" cy="3619951"/>
          </a:xfrm>
          <a:custGeom>
            <a:avLst/>
            <a:gdLst/>
            <a:ahLst/>
            <a:cxnLst/>
            <a:rect r="r" b="b" t="t" l="l"/>
            <a:pathLst>
              <a:path h="3619951" w="6762921">
                <a:moveTo>
                  <a:pt x="0" y="0"/>
                </a:moveTo>
                <a:lnTo>
                  <a:pt x="6762921" y="0"/>
                </a:lnTo>
                <a:lnTo>
                  <a:pt x="6762921" y="3619951"/>
                </a:lnTo>
                <a:lnTo>
                  <a:pt x="0" y="3619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39172" y="294790"/>
            <a:ext cx="12219623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YOLO (OBJECT DETECTION)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5050" y="1390165"/>
            <a:ext cx="10472002" cy="778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5"/>
              </a:lnSpc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Input: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Video frames captured from camera/video file</a:t>
            </a:r>
          </a:p>
          <a:p>
            <a:pPr algn="just">
              <a:lnSpc>
                <a:spcPts val="3665"/>
              </a:lnSpc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Goal: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Identify obstacles in real time and log them for safe navigation</a:t>
            </a:r>
          </a:p>
          <a:p>
            <a:pPr algn="just">
              <a:lnSpc>
                <a:spcPts val="3665"/>
              </a:lnSpc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Process: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Detects objects in each frame using YOLOv5n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Applies confidence threshold (&gt;= 0.35) to filter reliable detections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Divides frame into left, center, right zones using bounding box center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Compares bounding box area with frame area </a:t>
            </a:r>
          </a:p>
          <a:p>
            <a:pPr algn="just">
              <a:lnSpc>
                <a:spcPts val="3665"/>
              </a:lnSpc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(&gt;= 0.015 then near object)</a:t>
            </a:r>
          </a:p>
          <a:p>
            <a:pPr algn="just">
              <a:lnSpc>
                <a:spcPts val="3665"/>
              </a:lnSpc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Output:</a:t>
            </a:r>
          </a:p>
          <a:p>
            <a:pPr algn="just" marL="700280" indent="-350140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 class, bounding box, confidence, position (L/C/R), near/far status</a:t>
            </a:r>
          </a:p>
          <a:p>
            <a:pPr algn="just">
              <a:lnSpc>
                <a:spcPts val="3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976" y="1974381"/>
            <a:ext cx="12558646" cy="721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9"/>
              </a:lnSpc>
            </a:pPr>
            <a:r>
              <a:rPr lang="en-US" sz="33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3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INPUT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Video frames from camera</a:t>
            </a:r>
          </a:p>
          <a:p>
            <a:pPr algn="just">
              <a:lnSpc>
                <a:spcPts val="4959"/>
              </a:lnSpc>
            </a:pPr>
            <a:r>
              <a:rPr lang="en-US" sz="33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3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OUTPUT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Estimated camera pose  position (x, y, z) and orientation (yaw)</a:t>
            </a:r>
          </a:p>
          <a:p>
            <a:pPr algn="just">
              <a:lnSpc>
                <a:spcPts val="4959"/>
              </a:lnSpc>
            </a:pPr>
            <a:r>
              <a:rPr lang="en-US" sz="33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3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GOAL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Track camera motion frame by frame using key point matching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 a reliable trajectory for integration with detection results</a:t>
            </a:r>
          </a:p>
          <a:p>
            <a:pPr algn="just">
              <a:lnSpc>
                <a:spcPts val="4959"/>
              </a:lnSpc>
            </a:pPr>
            <a:r>
              <a:rPr lang="en-US" sz="330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r>
              <a:rPr lang="en-US" b="true" sz="330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INTEGRATION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Pose data stored in JSON along with YOLO detections</a:t>
            </a:r>
          </a:p>
          <a:p>
            <a:pPr algn="just" marL="670321" indent="-335160" lvl="1">
              <a:lnSpc>
                <a:spcPts val="4657"/>
              </a:lnSpc>
              <a:buFont typeface="Arial"/>
              <a:buChar char="•"/>
            </a:pPr>
            <a:r>
              <a:rPr lang="en-US" sz="31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Enables Edge system to combine “what objects are present” with “where the camera is” for better decision-making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13137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02103" y="782332"/>
            <a:ext cx="1196244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SLAM (VISUAL ODOMETRY)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33070" y="1965021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723" y="2910093"/>
            <a:ext cx="11584017" cy="448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Loads the Vosk speech recognition model for audio-to-text conversion.</a:t>
            </a:r>
          </a:p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Captures live microphone input using the SoundDevice library.</a:t>
            </a:r>
          </a:p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Stores audio data in a queue for smooth real-time processing.</a:t>
            </a:r>
          </a:p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Converts audio chunks to text at 16 kHz sampling rate.</a:t>
            </a:r>
          </a:p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Attaches timestamps to each recognized text segment.</a:t>
            </a:r>
          </a:p>
          <a:p>
            <a:pPr algn="just" marL="683986" indent="-341993" lvl="1">
              <a:lnSpc>
                <a:spcPts val="3579"/>
              </a:lnSpc>
              <a:buFont typeface="Arial"/>
              <a:buChar char="•"/>
            </a:pPr>
            <a:r>
              <a:rPr lang="en-US" sz="31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Saves the output as structured JSON logs for later use.</a:t>
            </a:r>
          </a:p>
          <a:p>
            <a:pPr algn="just">
              <a:lnSpc>
                <a:spcPts val="35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984446" y="294790"/>
            <a:ext cx="93440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VOICE RECOGNITION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42736" y="415540"/>
            <a:ext cx="767619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4"/>
              </a:lnSpc>
              <a:spcBef>
                <a:spcPct val="0"/>
              </a:spcBef>
            </a:pPr>
            <a:r>
              <a:rPr lang="en-US" sz="7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LANE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4415" y="1510915"/>
            <a:ext cx="14088006" cy="729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INPUT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VIDEO FRAMES FROM CAMERA</a:t>
            </a:r>
          </a:p>
          <a:p>
            <a:pPr algn="l">
              <a:lnSpc>
                <a:spcPts val="3842"/>
              </a:lnSpc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DETECTED LANE BOUNDARIES OVERLAID ON ROAD</a:t>
            </a:r>
          </a:p>
          <a:p>
            <a:pPr algn="l">
              <a:lnSpc>
                <a:spcPts val="3842"/>
              </a:lnSpc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IDENTIFY AND HIGHLIGHT LANE LINES IN REAL TIME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ASSIST DRIVER/VEHICLE TO STAY WITHIN LANES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ENABLE SAFE AUTONOMOUS NAVIGATION</a:t>
            </a:r>
          </a:p>
          <a:p>
            <a:pPr algn="l">
              <a:lnSpc>
                <a:spcPts val="3842"/>
              </a:lnSpc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PROCESS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 FRAMES TO GRAYSCALE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APPLY GAUSSIAN BLUR TO REMOVE NOISE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PERFORM CANNY EDGE DETECTION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MASK REGION OF INTEREST (ROAD ONLY)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 HOUGH TRANSFORM TO DETECT LANE LINES</a:t>
            </a:r>
          </a:p>
          <a:p>
            <a:pPr algn="l" marL="734082" indent="-367041" lvl="1">
              <a:lnSpc>
                <a:spcPts val="3842"/>
              </a:lnSpc>
              <a:buFont typeface="Arial"/>
              <a:buChar char="•"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OVERLAY DETECTED LANES ON ORIGINAL 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DAGylpgJwyk</dc:identifier>
  <dcterms:modified xsi:type="dcterms:W3CDTF">2011-08-01T06:04:30Z</dcterms:modified>
  <cp:revision>1</cp:revision>
  <dc:title>architecture diagram</dc:title>
</cp:coreProperties>
</file>